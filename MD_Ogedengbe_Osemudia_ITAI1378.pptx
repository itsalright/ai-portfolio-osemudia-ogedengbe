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5893"/>
    <p:restoredTop sz="94694"/>
  </p:normalViewPr>
  <p:slideViewPr>
    <p:cSldViewPr snapToGrid="0">
      <p:cViewPr>
        <p:scale>
          <a:sx n="118" d="100"/>
          <a:sy n="118" d="100"/>
        </p:scale>
        <p:origin x="-4168" y="26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B9231A-8EB3-DF14-FFEC-E73ECA35A42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7010B7DC-1941-EF35-F08C-AC4C432B5BC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9C703A35-2E42-7B15-554F-55ABFE66001D}"/>
              </a:ext>
            </a:extLst>
          </p:cNvPr>
          <p:cNvSpPr>
            <a:spLocks noGrp="1"/>
          </p:cNvSpPr>
          <p:nvPr>
            <p:ph type="dt" sz="half" idx="10"/>
          </p:nvPr>
        </p:nvSpPr>
        <p:spPr/>
        <p:txBody>
          <a:bodyPr/>
          <a:lstStyle/>
          <a:p>
            <a:fld id="{1AF2BB2F-5BDF-D348-8F0B-5FD7ACF09677}" type="datetimeFigureOut">
              <a:rPr lang="en-US" smtClean="0"/>
              <a:t>11/6/25</a:t>
            </a:fld>
            <a:endParaRPr lang="en-US"/>
          </a:p>
        </p:txBody>
      </p:sp>
      <p:sp>
        <p:nvSpPr>
          <p:cNvPr id="5" name="Footer Placeholder 4">
            <a:extLst>
              <a:ext uri="{FF2B5EF4-FFF2-40B4-BE49-F238E27FC236}">
                <a16:creationId xmlns:a16="http://schemas.microsoft.com/office/drawing/2014/main" id="{A1C8A333-6C4B-CEFA-9B09-7023BF31BD8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9CA83CD-50A1-F566-57DB-E1F8250B75DC}"/>
              </a:ext>
            </a:extLst>
          </p:cNvPr>
          <p:cNvSpPr>
            <a:spLocks noGrp="1"/>
          </p:cNvSpPr>
          <p:nvPr>
            <p:ph type="sldNum" sz="quarter" idx="12"/>
          </p:nvPr>
        </p:nvSpPr>
        <p:spPr/>
        <p:txBody>
          <a:bodyPr/>
          <a:lstStyle/>
          <a:p>
            <a:fld id="{DC378EE8-EDB8-3E4F-8023-F7A1183736AC}" type="slidenum">
              <a:rPr lang="en-US" smtClean="0"/>
              <a:t>‹#›</a:t>
            </a:fld>
            <a:endParaRPr lang="en-US"/>
          </a:p>
        </p:txBody>
      </p:sp>
    </p:spTree>
    <p:extLst>
      <p:ext uri="{BB962C8B-B14F-4D97-AF65-F5344CB8AC3E}">
        <p14:creationId xmlns:p14="http://schemas.microsoft.com/office/powerpoint/2010/main" val="36575024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2FC25B-4FB0-3BE0-7839-0B58030E597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C5566BE-B8F1-F771-9DCD-6F6282C054B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8026DCD-D126-05E5-B640-2F32FEB4CEF2}"/>
              </a:ext>
            </a:extLst>
          </p:cNvPr>
          <p:cNvSpPr>
            <a:spLocks noGrp="1"/>
          </p:cNvSpPr>
          <p:nvPr>
            <p:ph type="dt" sz="half" idx="10"/>
          </p:nvPr>
        </p:nvSpPr>
        <p:spPr/>
        <p:txBody>
          <a:bodyPr/>
          <a:lstStyle/>
          <a:p>
            <a:fld id="{1AF2BB2F-5BDF-D348-8F0B-5FD7ACF09677}" type="datetimeFigureOut">
              <a:rPr lang="en-US" smtClean="0"/>
              <a:t>11/6/25</a:t>
            </a:fld>
            <a:endParaRPr lang="en-US"/>
          </a:p>
        </p:txBody>
      </p:sp>
      <p:sp>
        <p:nvSpPr>
          <p:cNvPr id="5" name="Footer Placeholder 4">
            <a:extLst>
              <a:ext uri="{FF2B5EF4-FFF2-40B4-BE49-F238E27FC236}">
                <a16:creationId xmlns:a16="http://schemas.microsoft.com/office/drawing/2014/main" id="{0015FD50-651D-62C4-8F91-AA86D650D40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655B206-5ED6-C3A3-DD63-73932B1B6AD4}"/>
              </a:ext>
            </a:extLst>
          </p:cNvPr>
          <p:cNvSpPr>
            <a:spLocks noGrp="1"/>
          </p:cNvSpPr>
          <p:nvPr>
            <p:ph type="sldNum" sz="quarter" idx="12"/>
          </p:nvPr>
        </p:nvSpPr>
        <p:spPr/>
        <p:txBody>
          <a:bodyPr/>
          <a:lstStyle/>
          <a:p>
            <a:fld id="{DC378EE8-EDB8-3E4F-8023-F7A1183736AC}" type="slidenum">
              <a:rPr lang="en-US" smtClean="0"/>
              <a:t>‹#›</a:t>
            </a:fld>
            <a:endParaRPr lang="en-US"/>
          </a:p>
        </p:txBody>
      </p:sp>
    </p:spTree>
    <p:extLst>
      <p:ext uri="{BB962C8B-B14F-4D97-AF65-F5344CB8AC3E}">
        <p14:creationId xmlns:p14="http://schemas.microsoft.com/office/powerpoint/2010/main" val="267535194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A8EC2E-02A4-5DE5-707D-A98B027DBBB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393B915E-D611-2A51-4570-FD790493D8A2}"/>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80380FF-E743-3CAD-E618-D4B9C3F6702C}"/>
              </a:ext>
            </a:extLst>
          </p:cNvPr>
          <p:cNvSpPr>
            <a:spLocks noGrp="1"/>
          </p:cNvSpPr>
          <p:nvPr>
            <p:ph type="dt" sz="half" idx="10"/>
          </p:nvPr>
        </p:nvSpPr>
        <p:spPr/>
        <p:txBody>
          <a:bodyPr/>
          <a:lstStyle/>
          <a:p>
            <a:fld id="{1AF2BB2F-5BDF-D348-8F0B-5FD7ACF09677}" type="datetimeFigureOut">
              <a:rPr lang="en-US" smtClean="0"/>
              <a:t>11/6/25</a:t>
            </a:fld>
            <a:endParaRPr lang="en-US"/>
          </a:p>
        </p:txBody>
      </p:sp>
      <p:sp>
        <p:nvSpPr>
          <p:cNvPr id="5" name="Footer Placeholder 4">
            <a:extLst>
              <a:ext uri="{FF2B5EF4-FFF2-40B4-BE49-F238E27FC236}">
                <a16:creationId xmlns:a16="http://schemas.microsoft.com/office/drawing/2014/main" id="{472456F4-84E3-FD43-9959-0B6F0B51A1B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657B863-717D-5BC2-DF33-29B06F84F6E7}"/>
              </a:ext>
            </a:extLst>
          </p:cNvPr>
          <p:cNvSpPr>
            <a:spLocks noGrp="1"/>
          </p:cNvSpPr>
          <p:nvPr>
            <p:ph type="sldNum" sz="quarter" idx="12"/>
          </p:nvPr>
        </p:nvSpPr>
        <p:spPr/>
        <p:txBody>
          <a:bodyPr/>
          <a:lstStyle/>
          <a:p>
            <a:fld id="{DC378EE8-EDB8-3E4F-8023-F7A1183736AC}" type="slidenum">
              <a:rPr lang="en-US" smtClean="0"/>
              <a:t>‹#›</a:t>
            </a:fld>
            <a:endParaRPr lang="en-US"/>
          </a:p>
        </p:txBody>
      </p:sp>
    </p:spTree>
    <p:extLst>
      <p:ext uri="{BB962C8B-B14F-4D97-AF65-F5344CB8AC3E}">
        <p14:creationId xmlns:p14="http://schemas.microsoft.com/office/powerpoint/2010/main" val="196470502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745E54-0639-D493-155B-1C9447A6531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A850571-60B8-7244-59CB-877599DA3A2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B13D2F2F-2878-5AC8-1EE1-CCC58FF8BE0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C349AA2B-10B1-2F39-94D8-5564DBB8543F}"/>
              </a:ext>
            </a:extLst>
          </p:cNvPr>
          <p:cNvSpPr>
            <a:spLocks noGrp="1"/>
          </p:cNvSpPr>
          <p:nvPr>
            <p:ph type="dt" sz="half" idx="10"/>
          </p:nvPr>
        </p:nvSpPr>
        <p:spPr/>
        <p:txBody>
          <a:bodyPr/>
          <a:lstStyle/>
          <a:p>
            <a:fld id="{1AF2BB2F-5BDF-D348-8F0B-5FD7ACF09677}" type="datetimeFigureOut">
              <a:rPr lang="en-US" smtClean="0"/>
              <a:t>11/6/25</a:t>
            </a:fld>
            <a:endParaRPr lang="en-US"/>
          </a:p>
        </p:txBody>
      </p:sp>
      <p:sp>
        <p:nvSpPr>
          <p:cNvPr id="6" name="Footer Placeholder 5">
            <a:extLst>
              <a:ext uri="{FF2B5EF4-FFF2-40B4-BE49-F238E27FC236}">
                <a16:creationId xmlns:a16="http://schemas.microsoft.com/office/drawing/2014/main" id="{8C2AAEDF-F866-0FE7-DDFF-E3EB27E38EB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33FC161-8F50-3A66-7E2D-F6DBBC50B8BB}"/>
              </a:ext>
            </a:extLst>
          </p:cNvPr>
          <p:cNvSpPr>
            <a:spLocks noGrp="1"/>
          </p:cNvSpPr>
          <p:nvPr>
            <p:ph type="sldNum" sz="quarter" idx="12"/>
          </p:nvPr>
        </p:nvSpPr>
        <p:spPr/>
        <p:txBody>
          <a:bodyPr/>
          <a:lstStyle/>
          <a:p>
            <a:fld id="{DC378EE8-EDB8-3E4F-8023-F7A1183736AC}" type="slidenum">
              <a:rPr lang="en-US" smtClean="0"/>
              <a:t>‹#›</a:t>
            </a:fld>
            <a:endParaRPr lang="en-US"/>
          </a:p>
        </p:txBody>
      </p:sp>
    </p:spTree>
    <p:extLst>
      <p:ext uri="{BB962C8B-B14F-4D97-AF65-F5344CB8AC3E}">
        <p14:creationId xmlns:p14="http://schemas.microsoft.com/office/powerpoint/2010/main" val="143605799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EF3AE9-1342-149A-422F-B28495760C6A}"/>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D37A8EF8-46C5-BDB0-DA11-A391AB5D95F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C1D61E1-93DF-5D64-03FB-0369E662DEF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1BEF14FD-14B9-983A-95D7-16DDFAECB42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A83EF05-6206-3339-8368-E273C2A6B10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87DDCE8D-67FA-A9B9-9391-06DE810555E1}"/>
              </a:ext>
            </a:extLst>
          </p:cNvPr>
          <p:cNvSpPr>
            <a:spLocks noGrp="1"/>
          </p:cNvSpPr>
          <p:nvPr>
            <p:ph type="dt" sz="half" idx="10"/>
          </p:nvPr>
        </p:nvSpPr>
        <p:spPr/>
        <p:txBody>
          <a:bodyPr/>
          <a:lstStyle/>
          <a:p>
            <a:fld id="{1AF2BB2F-5BDF-D348-8F0B-5FD7ACF09677}" type="datetimeFigureOut">
              <a:rPr lang="en-US" smtClean="0"/>
              <a:t>11/6/25</a:t>
            </a:fld>
            <a:endParaRPr lang="en-US"/>
          </a:p>
        </p:txBody>
      </p:sp>
      <p:sp>
        <p:nvSpPr>
          <p:cNvPr id="8" name="Footer Placeholder 7">
            <a:extLst>
              <a:ext uri="{FF2B5EF4-FFF2-40B4-BE49-F238E27FC236}">
                <a16:creationId xmlns:a16="http://schemas.microsoft.com/office/drawing/2014/main" id="{A4A38497-11FC-E9EA-2F2D-811883FBEC37}"/>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5CE0F456-9D6C-2637-8B74-63B71B047A0C}"/>
              </a:ext>
            </a:extLst>
          </p:cNvPr>
          <p:cNvSpPr>
            <a:spLocks noGrp="1"/>
          </p:cNvSpPr>
          <p:nvPr>
            <p:ph type="sldNum" sz="quarter" idx="12"/>
          </p:nvPr>
        </p:nvSpPr>
        <p:spPr/>
        <p:txBody>
          <a:bodyPr/>
          <a:lstStyle/>
          <a:p>
            <a:fld id="{DC378EE8-EDB8-3E4F-8023-F7A1183736AC}" type="slidenum">
              <a:rPr lang="en-US" smtClean="0"/>
              <a:t>‹#›</a:t>
            </a:fld>
            <a:endParaRPr lang="en-US"/>
          </a:p>
        </p:txBody>
      </p:sp>
    </p:spTree>
    <p:extLst>
      <p:ext uri="{BB962C8B-B14F-4D97-AF65-F5344CB8AC3E}">
        <p14:creationId xmlns:p14="http://schemas.microsoft.com/office/powerpoint/2010/main" val="405455975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BCC01D-95E6-C1F3-8AA0-A956D480F7E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CBB986A7-9281-E052-D724-6A56D7CBF468}"/>
              </a:ext>
            </a:extLst>
          </p:cNvPr>
          <p:cNvSpPr>
            <a:spLocks noGrp="1"/>
          </p:cNvSpPr>
          <p:nvPr>
            <p:ph type="dt" sz="half" idx="10"/>
          </p:nvPr>
        </p:nvSpPr>
        <p:spPr/>
        <p:txBody>
          <a:bodyPr/>
          <a:lstStyle/>
          <a:p>
            <a:fld id="{1AF2BB2F-5BDF-D348-8F0B-5FD7ACF09677}" type="datetimeFigureOut">
              <a:rPr lang="en-US" smtClean="0"/>
              <a:t>11/6/25</a:t>
            </a:fld>
            <a:endParaRPr lang="en-US"/>
          </a:p>
        </p:txBody>
      </p:sp>
      <p:sp>
        <p:nvSpPr>
          <p:cNvPr id="4" name="Footer Placeholder 3">
            <a:extLst>
              <a:ext uri="{FF2B5EF4-FFF2-40B4-BE49-F238E27FC236}">
                <a16:creationId xmlns:a16="http://schemas.microsoft.com/office/drawing/2014/main" id="{837FCEF6-80B6-B342-C617-DC2911444882}"/>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676CDE98-ADAD-05F4-04C1-E3C6DEA83D49}"/>
              </a:ext>
            </a:extLst>
          </p:cNvPr>
          <p:cNvSpPr>
            <a:spLocks noGrp="1"/>
          </p:cNvSpPr>
          <p:nvPr>
            <p:ph type="sldNum" sz="quarter" idx="12"/>
          </p:nvPr>
        </p:nvSpPr>
        <p:spPr/>
        <p:txBody>
          <a:bodyPr/>
          <a:lstStyle/>
          <a:p>
            <a:fld id="{DC378EE8-EDB8-3E4F-8023-F7A1183736AC}" type="slidenum">
              <a:rPr lang="en-US" smtClean="0"/>
              <a:t>‹#›</a:t>
            </a:fld>
            <a:endParaRPr lang="en-US"/>
          </a:p>
        </p:txBody>
      </p:sp>
    </p:spTree>
    <p:extLst>
      <p:ext uri="{BB962C8B-B14F-4D97-AF65-F5344CB8AC3E}">
        <p14:creationId xmlns:p14="http://schemas.microsoft.com/office/powerpoint/2010/main" val="373447239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C602447-BCC1-626D-2EB1-1E86F3EF9059}"/>
              </a:ext>
            </a:extLst>
          </p:cNvPr>
          <p:cNvSpPr>
            <a:spLocks noGrp="1"/>
          </p:cNvSpPr>
          <p:nvPr>
            <p:ph type="dt" sz="half" idx="10"/>
          </p:nvPr>
        </p:nvSpPr>
        <p:spPr/>
        <p:txBody>
          <a:bodyPr/>
          <a:lstStyle/>
          <a:p>
            <a:fld id="{1AF2BB2F-5BDF-D348-8F0B-5FD7ACF09677}" type="datetimeFigureOut">
              <a:rPr lang="en-US" smtClean="0"/>
              <a:t>11/6/25</a:t>
            </a:fld>
            <a:endParaRPr lang="en-US"/>
          </a:p>
        </p:txBody>
      </p:sp>
      <p:sp>
        <p:nvSpPr>
          <p:cNvPr id="3" name="Footer Placeholder 2">
            <a:extLst>
              <a:ext uri="{FF2B5EF4-FFF2-40B4-BE49-F238E27FC236}">
                <a16:creationId xmlns:a16="http://schemas.microsoft.com/office/drawing/2014/main" id="{8CD1456A-EAC0-31EB-4A7A-449908C738F1}"/>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D349224F-AA34-E51B-AF0E-45EB7D8497DA}"/>
              </a:ext>
            </a:extLst>
          </p:cNvPr>
          <p:cNvSpPr>
            <a:spLocks noGrp="1"/>
          </p:cNvSpPr>
          <p:nvPr>
            <p:ph type="sldNum" sz="quarter" idx="12"/>
          </p:nvPr>
        </p:nvSpPr>
        <p:spPr/>
        <p:txBody>
          <a:bodyPr/>
          <a:lstStyle/>
          <a:p>
            <a:fld id="{DC378EE8-EDB8-3E4F-8023-F7A1183736AC}" type="slidenum">
              <a:rPr lang="en-US" smtClean="0"/>
              <a:t>‹#›</a:t>
            </a:fld>
            <a:endParaRPr lang="en-US"/>
          </a:p>
        </p:txBody>
      </p:sp>
    </p:spTree>
    <p:extLst>
      <p:ext uri="{BB962C8B-B14F-4D97-AF65-F5344CB8AC3E}">
        <p14:creationId xmlns:p14="http://schemas.microsoft.com/office/powerpoint/2010/main" val="332641109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7E07C5-4552-4D96-5303-80BD1953107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CD8CA4D8-4ABA-AF95-738E-2665BAAE159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F21D6951-1955-424C-EF7A-0B37DC49D14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C1B7181-7152-AC31-56EB-FF498FF5527B}"/>
              </a:ext>
            </a:extLst>
          </p:cNvPr>
          <p:cNvSpPr>
            <a:spLocks noGrp="1"/>
          </p:cNvSpPr>
          <p:nvPr>
            <p:ph type="dt" sz="half" idx="10"/>
          </p:nvPr>
        </p:nvSpPr>
        <p:spPr/>
        <p:txBody>
          <a:bodyPr/>
          <a:lstStyle/>
          <a:p>
            <a:fld id="{1AF2BB2F-5BDF-D348-8F0B-5FD7ACF09677}" type="datetimeFigureOut">
              <a:rPr lang="en-US" smtClean="0"/>
              <a:t>11/6/25</a:t>
            </a:fld>
            <a:endParaRPr lang="en-US"/>
          </a:p>
        </p:txBody>
      </p:sp>
      <p:sp>
        <p:nvSpPr>
          <p:cNvPr id="6" name="Footer Placeholder 5">
            <a:extLst>
              <a:ext uri="{FF2B5EF4-FFF2-40B4-BE49-F238E27FC236}">
                <a16:creationId xmlns:a16="http://schemas.microsoft.com/office/drawing/2014/main" id="{FC6737B5-E0FC-FB5E-77DD-6A90A6D6899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58CB68B-C559-D88A-ABDC-C34F4A4A4B8D}"/>
              </a:ext>
            </a:extLst>
          </p:cNvPr>
          <p:cNvSpPr>
            <a:spLocks noGrp="1"/>
          </p:cNvSpPr>
          <p:nvPr>
            <p:ph type="sldNum" sz="quarter" idx="12"/>
          </p:nvPr>
        </p:nvSpPr>
        <p:spPr/>
        <p:txBody>
          <a:bodyPr/>
          <a:lstStyle/>
          <a:p>
            <a:fld id="{DC378EE8-EDB8-3E4F-8023-F7A1183736AC}" type="slidenum">
              <a:rPr lang="en-US" smtClean="0"/>
              <a:t>‹#›</a:t>
            </a:fld>
            <a:endParaRPr lang="en-US"/>
          </a:p>
        </p:txBody>
      </p:sp>
    </p:spTree>
    <p:extLst>
      <p:ext uri="{BB962C8B-B14F-4D97-AF65-F5344CB8AC3E}">
        <p14:creationId xmlns:p14="http://schemas.microsoft.com/office/powerpoint/2010/main" val="12879681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A5714D-197A-F9CD-A9BB-71E24EDCD04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CA33B545-5AA6-BC9A-7E57-CAA8A40255D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0716434D-2922-C4FA-C783-03415128616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F9239BB-3CEF-7D9D-F169-01DEDCE3FFA9}"/>
              </a:ext>
            </a:extLst>
          </p:cNvPr>
          <p:cNvSpPr>
            <a:spLocks noGrp="1"/>
          </p:cNvSpPr>
          <p:nvPr>
            <p:ph type="dt" sz="half" idx="10"/>
          </p:nvPr>
        </p:nvSpPr>
        <p:spPr/>
        <p:txBody>
          <a:bodyPr/>
          <a:lstStyle/>
          <a:p>
            <a:fld id="{1AF2BB2F-5BDF-D348-8F0B-5FD7ACF09677}" type="datetimeFigureOut">
              <a:rPr lang="en-US" smtClean="0"/>
              <a:t>11/6/25</a:t>
            </a:fld>
            <a:endParaRPr lang="en-US"/>
          </a:p>
        </p:txBody>
      </p:sp>
      <p:sp>
        <p:nvSpPr>
          <p:cNvPr id="6" name="Footer Placeholder 5">
            <a:extLst>
              <a:ext uri="{FF2B5EF4-FFF2-40B4-BE49-F238E27FC236}">
                <a16:creationId xmlns:a16="http://schemas.microsoft.com/office/drawing/2014/main" id="{E7439644-D2D1-E6BF-8691-26529117BB6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73C3C64-EA67-3F58-0E9B-4B04E4B72A1E}"/>
              </a:ext>
            </a:extLst>
          </p:cNvPr>
          <p:cNvSpPr>
            <a:spLocks noGrp="1"/>
          </p:cNvSpPr>
          <p:nvPr>
            <p:ph type="sldNum" sz="quarter" idx="12"/>
          </p:nvPr>
        </p:nvSpPr>
        <p:spPr/>
        <p:txBody>
          <a:bodyPr/>
          <a:lstStyle/>
          <a:p>
            <a:fld id="{DC378EE8-EDB8-3E4F-8023-F7A1183736AC}" type="slidenum">
              <a:rPr lang="en-US" smtClean="0"/>
              <a:t>‹#›</a:t>
            </a:fld>
            <a:endParaRPr lang="en-US"/>
          </a:p>
        </p:txBody>
      </p:sp>
    </p:spTree>
    <p:extLst>
      <p:ext uri="{BB962C8B-B14F-4D97-AF65-F5344CB8AC3E}">
        <p14:creationId xmlns:p14="http://schemas.microsoft.com/office/powerpoint/2010/main" val="284815805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04C602-7DE3-D036-BF22-264E35D185B5}"/>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B1C53BF0-5C39-026E-3B3E-60CBA2CBF2A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86EE45D-88D0-763C-98C9-DD3D8EC1FC58}"/>
              </a:ext>
            </a:extLst>
          </p:cNvPr>
          <p:cNvSpPr>
            <a:spLocks noGrp="1"/>
          </p:cNvSpPr>
          <p:nvPr>
            <p:ph type="dt" sz="half" idx="10"/>
          </p:nvPr>
        </p:nvSpPr>
        <p:spPr/>
        <p:txBody>
          <a:bodyPr/>
          <a:lstStyle/>
          <a:p>
            <a:fld id="{1AF2BB2F-5BDF-D348-8F0B-5FD7ACF09677}" type="datetimeFigureOut">
              <a:rPr lang="en-US" smtClean="0"/>
              <a:t>11/6/25</a:t>
            </a:fld>
            <a:endParaRPr lang="en-US"/>
          </a:p>
        </p:txBody>
      </p:sp>
      <p:sp>
        <p:nvSpPr>
          <p:cNvPr id="5" name="Footer Placeholder 4">
            <a:extLst>
              <a:ext uri="{FF2B5EF4-FFF2-40B4-BE49-F238E27FC236}">
                <a16:creationId xmlns:a16="http://schemas.microsoft.com/office/drawing/2014/main" id="{8015D328-F914-2D02-1D2A-A4C1A7C4678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7A8F244-033E-3C8D-544B-0D4E8E5C2FA4}"/>
              </a:ext>
            </a:extLst>
          </p:cNvPr>
          <p:cNvSpPr>
            <a:spLocks noGrp="1"/>
          </p:cNvSpPr>
          <p:nvPr>
            <p:ph type="sldNum" sz="quarter" idx="12"/>
          </p:nvPr>
        </p:nvSpPr>
        <p:spPr/>
        <p:txBody>
          <a:bodyPr/>
          <a:lstStyle/>
          <a:p>
            <a:fld id="{DC378EE8-EDB8-3E4F-8023-F7A1183736AC}" type="slidenum">
              <a:rPr lang="en-US" smtClean="0"/>
              <a:t>‹#›</a:t>
            </a:fld>
            <a:endParaRPr lang="en-US"/>
          </a:p>
        </p:txBody>
      </p:sp>
    </p:spTree>
    <p:extLst>
      <p:ext uri="{BB962C8B-B14F-4D97-AF65-F5344CB8AC3E}">
        <p14:creationId xmlns:p14="http://schemas.microsoft.com/office/powerpoint/2010/main" val="239891590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ED980D3-3CAB-991A-B642-C07310E565BC}"/>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36CBD507-2686-CF11-0676-D37EC79DD56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831DAB4-35B8-75BB-322E-F57970934BEC}"/>
              </a:ext>
            </a:extLst>
          </p:cNvPr>
          <p:cNvSpPr>
            <a:spLocks noGrp="1"/>
          </p:cNvSpPr>
          <p:nvPr>
            <p:ph type="dt" sz="half" idx="10"/>
          </p:nvPr>
        </p:nvSpPr>
        <p:spPr/>
        <p:txBody>
          <a:bodyPr/>
          <a:lstStyle/>
          <a:p>
            <a:fld id="{1AF2BB2F-5BDF-D348-8F0B-5FD7ACF09677}" type="datetimeFigureOut">
              <a:rPr lang="en-US" smtClean="0"/>
              <a:t>11/6/25</a:t>
            </a:fld>
            <a:endParaRPr lang="en-US"/>
          </a:p>
        </p:txBody>
      </p:sp>
      <p:sp>
        <p:nvSpPr>
          <p:cNvPr id="5" name="Footer Placeholder 4">
            <a:extLst>
              <a:ext uri="{FF2B5EF4-FFF2-40B4-BE49-F238E27FC236}">
                <a16:creationId xmlns:a16="http://schemas.microsoft.com/office/drawing/2014/main" id="{C056E5B5-EBB5-CBFB-A485-E6F2DA3DFB2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ADBBB02-E561-85D7-C636-D15220A57C91}"/>
              </a:ext>
            </a:extLst>
          </p:cNvPr>
          <p:cNvSpPr>
            <a:spLocks noGrp="1"/>
          </p:cNvSpPr>
          <p:nvPr>
            <p:ph type="sldNum" sz="quarter" idx="12"/>
          </p:nvPr>
        </p:nvSpPr>
        <p:spPr/>
        <p:txBody>
          <a:bodyPr/>
          <a:lstStyle/>
          <a:p>
            <a:fld id="{DC378EE8-EDB8-3E4F-8023-F7A1183736AC}" type="slidenum">
              <a:rPr lang="en-US" smtClean="0"/>
              <a:t>‹#›</a:t>
            </a:fld>
            <a:endParaRPr lang="en-US"/>
          </a:p>
        </p:txBody>
      </p:sp>
    </p:spTree>
    <p:extLst>
      <p:ext uri="{BB962C8B-B14F-4D97-AF65-F5344CB8AC3E}">
        <p14:creationId xmlns:p14="http://schemas.microsoft.com/office/powerpoint/2010/main" val="118188513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617D084-AC41-FE2A-C782-9A47440B5F5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9B7F568E-0829-0FA3-24B7-9D81599DBF2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2A9DE44-FA1A-7E91-8595-2A91D55B77A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1AF2BB2F-5BDF-D348-8F0B-5FD7ACF09677}" type="datetimeFigureOut">
              <a:rPr lang="en-US" smtClean="0"/>
              <a:t>11/6/25</a:t>
            </a:fld>
            <a:endParaRPr lang="en-US"/>
          </a:p>
        </p:txBody>
      </p:sp>
      <p:sp>
        <p:nvSpPr>
          <p:cNvPr id="5" name="Footer Placeholder 4">
            <a:extLst>
              <a:ext uri="{FF2B5EF4-FFF2-40B4-BE49-F238E27FC236}">
                <a16:creationId xmlns:a16="http://schemas.microsoft.com/office/drawing/2014/main" id="{FD020000-CEA7-7E62-750D-1055E1ABE08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8A795F29-EBD9-8191-0738-03ED1CD2DD3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DC378EE8-EDB8-3E4F-8023-F7A1183736AC}" type="slidenum">
              <a:rPr lang="en-US" smtClean="0"/>
              <a:t>‹#›</a:t>
            </a:fld>
            <a:endParaRPr lang="en-US"/>
          </a:p>
        </p:txBody>
      </p:sp>
    </p:spTree>
    <p:extLst>
      <p:ext uri="{BB962C8B-B14F-4D97-AF65-F5344CB8AC3E}">
        <p14:creationId xmlns:p14="http://schemas.microsoft.com/office/powerpoint/2010/main" val="69289074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90A156-F303-3CC9-EE31-01BCA237E246}"/>
              </a:ext>
            </a:extLst>
          </p:cNvPr>
          <p:cNvSpPr>
            <a:spLocks noGrp="1"/>
          </p:cNvSpPr>
          <p:nvPr>
            <p:ph type="ctrTitle"/>
          </p:nvPr>
        </p:nvSpPr>
        <p:spPr/>
        <p:txBody>
          <a:bodyPr>
            <a:normAutofit fontScale="90000"/>
          </a:bodyPr>
          <a:lstStyle/>
          <a:p>
            <a:r>
              <a:rPr lang="en-US" dirty="0"/>
              <a:t>Proposal to Integrate Computer Vision in Sofa Manufacturing</a:t>
            </a:r>
          </a:p>
        </p:txBody>
      </p:sp>
      <p:sp>
        <p:nvSpPr>
          <p:cNvPr id="3" name="Subtitle 2">
            <a:extLst>
              <a:ext uri="{FF2B5EF4-FFF2-40B4-BE49-F238E27FC236}">
                <a16:creationId xmlns:a16="http://schemas.microsoft.com/office/drawing/2014/main" id="{144FA8DD-380E-F2E6-CE36-208A82850910}"/>
              </a:ext>
            </a:extLst>
          </p:cNvPr>
          <p:cNvSpPr>
            <a:spLocks noGrp="1"/>
          </p:cNvSpPr>
          <p:nvPr>
            <p:ph type="subTitle" idx="1"/>
          </p:nvPr>
        </p:nvSpPr>
        <p:spPr/>
        <p:txBody>
          <a:bodyPr/>
          <a:lstStyle/>
          <a:p>
            <a:r>
              <a:rPr lang="en-US" dirty="0"/>
              <a:t>Team Members: </a:t>
            </a:r>
            <a:r>
              <a:rPr lang="en-US"/>
              <a:t>Osemudia Ogedengbe</a:t>
            </a:r>
            <a:endParaRPr lang="en-US" dirty="0"/>
          </a:p>
        </p:txBody>
      </p:sp>
    </p:spTree>
    <p:extLst>
      <p:ext uri="{BB962C8B-B14F-4D97-AF65-F5344CB8AC3E}">
        <p14:creationId xmlns:p14="http://schemas.microsoft.com/office/powerpoint/2010/main" val="248868103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13E1ED-36D2-D4CF-E26D-047B6F56A7C3}"/>
              </a:ext>
            </a:extLst>
          </p:cNvPr>
          <p:cNvSpPr>
            <a:spLocks noGrp="1"/>
          </p:cNvSpPr>
          <p:nvPr>
            <p:ph type="title"/>
          </p:nvPr>
        </p:nvSpPr>
        <p:spPr/>
        <p:txBody>
          <a:bodyPr/>
          <a:lstStyle/>
          <a:p>
            <a:r>
              <a:rPr lang="en-US" dirty="0"/>
              <a:t>The Problem</a:t>
            </a:r>
          </a:p>
        </p:txBody>
      </p:sp>
      <p:sp>
        <p:nvSpPr>
          <p:cNvPr id="3" name="Content Placeholder 2">
            <a:extLst>
              <a:ext uri="{FF2B5EF4-FFF2-40B4-BE49-F238E27FC236}">
                <a16:creationId xmlns:a16="http://schemas.microsoft.com/office/drawing/2014/main" id="{08C83D45-B250-9C2D-C876-638AC02339F4}"/>
              </a:ext>
            </a:extLst>
          </p:cNvPr>
          <p:cNvSpPr>
            <a:spLocks noGrp="1"/>
          </p:cNvSpPr>
          <p:nvPr>
            <p:ph idx="1"/>
          </p:nvPr>
        </p:nvSpPr>
        <p:spPr/>
        <p:txBody>
          <a:bodyPr/>
          <a:lstStyle/>
          <a:p>
            <a:r>
              <a:rPr lang="en-US" dirty="0"/>
              <a:t>The sofas are often in low quality and are of inconsistent quality between each other. </a:t>
            </a:r>
          </a:p>
          <a:p>
            <a:r>
              <a:rPr lang="en-US" dirty="0"/>
              <a:t>This is significant as the company who manufactures sofas prioritizes them to be of high quality to increase their appeal. </a:t>
            </a:r>
          </a:p>
          <a:p>
            <a:r>
              <a:rPr lang="en-US" dirty="0"/>
              <a:t>Plus, in the case that the company will make other furniture with fabric, it needs to improve how it manufactures the already existing sofas.</a:t>
            </a:r>
          </a:p>
        </p:txBody>
      </p:sp>
    </p:spTree>
    <p:extLst>
      <p:ext uri="{BB962C8B-B14F-4D97-AF65-F5344CB8AC3E}">
        <p14:creationId xmlns:p14="http://schemas.microsoft.com/office/powerpoint/2010/main" val="141691198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AA4066-E262-E0DE-168D-EE37F293235D}"/>
              </a:ext>
            </a:extLst>
          </p:cNvPr>
          <p:cNvSpPr>
            <a:spLocks noGrp="1"/>
          </p:cNvSpPr>
          <p:nvPr>
            <p:ph type="title"/>
          </p:nvPr>
        </p:nvSpPr>
        <p:spPr/>
        <p:txBody>
          <a:bodyPr/>
          <a:lstStyle/>
          <a:p>
            <a:r>
              <a:rPr lang="en-US" dirty="0"/>
              <a:t>Our Solution</a:t>
            </a:r>
          </a:p>
        </p:txBody>
      </p:sp>
      <p:sp>
        <p:nvSpPr>
          <p:cNvPr id="3" name="Content Placeholder 2">
            <a:extLst>
              <a:ext uri="{FF2B5EF4-FFF2-40B4-BE49-F238E27FC236}">
                <a16:creationId xmlns:a16="http://schemas.microsoft.com/office/drawing/2014/main" id="{FADE1559-C536-0B8C-5515-D315746ABE1C}"/>
              </a:ext>
            </a:extLst>
          </p:cNvPr>
          <p:cNvSpPr>
            <a:spLocks noGrp="1"/>
          </p:cNvSpPr>
          <p:nvPr>
            <p:ph idx="1"/>
          </p:nvPr>
        </p:nvSpPr>
        <p:spPr/>
        <p:txBody>
          <a:bodyPr/>
          <a:lstStyle/>
          <a:p>
            <a:r>
              <a:rPr lang="en-US" dirty="0"/>
              <a:t>Present frame of the Sofa → Camera → Use computer vision to inspect defects in the frame of the sofa → Generates report → If successful, present the fabric of the sofa → Camera → Use computer vision to inspect defects in the fabric of the sofa → Generates report → If successful, finish the creation of the sofa.</a:t>
            </a:r>
          </a:p>
          <a:p>
            <a:r>
              <a:rPr lang="en-US" dirty="0"/>
              <a:t>This process will tackle the structure and presentation of the sofa to improve its quality.</a:t>
            </a:r>
          </a:p>
        </p:txBody>
      </p:sp>
    </p:spTree>
    <p:extLst>
      <p:ext uri="{BB962C8B-B14F-4D97-AF65-F5344CB8AC3E}">
        <p14:creationId xmlns:p14="http://schemas.microsoft.com/office/powerpoint/2010/main" val="30272113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EB5AB6-B17E-FEF2-01D3-C9A650082F86}"/>
              </a:ext>
            </a:extLst>
          </p:cNvPr>
          <p:cNvSpPr>
            <a:spLocks noGrp="1"/>
          </p:cNvSpPr>
          <p:nvPr>
            <p:ph type="title"/>
          </p:nvPr>
        </p:nvSpPr>
        <p:spPr/>
        <p:txBody>
          <a:bodyPr/>
          <a:lstStyle/>
          <a:p>
            <a:r>
              <a:rPr lang="en-US" dirty="0"/>
              <a:t>Technical Approach</a:t>
            </a:r>
          </a:p>
        </p:txBody>
      </p:sp>
      <p:sp>
        <p:nvSpPr>
          <p:cNvPr id="3" name="Content Placeholder 2">
            <a:extLst>
              <a:ext uri="{FF2B5EF4-FFF2-40B4-BE49-F238E27FC236}">
                <a16:creationId xmlns:a16="http://schemas.microsoft.com/office/drawing/2014/main" id="{63A9A3BD-84AB-044C-5417-C81522617EAE}"/>
              </a:ext>
            </a:extLst>
          </p:cNvPr>
          <p:cNvSpPr>
            <a:spLocks noGrp="1"/>
          </p:cNvSpPr>
          <p:nvPr>
            <p:ph idx="1"/>
          </p:nvPr>
        </p:nvSpPr>
        <p:spPr/>
        <p:txBody>
          <a:bodyPr>
            <a:normAutofit fontScale="85000" lnSpcReduction="20000"/>
          </a:bodyPr>
          <a:lstStyle/>
          <a:p>
            <a:r>
              <a:rPr lang="en-US" dirty="0"/>
              <a:t>This plan will utilize automated visual inspections. As such, a combination of techniques are necessary to properly preform the inspection. Techniques such as image processing, object detection, classification, and defect detection, the process of identifying imperfections, often using an automated approach.</a:t>
            </a:r>
          </a:p>
          <a:p>
            <a:r>
              <a:rPr lang="en-US" dirty="0"/>
              <a:t>Models like </a:t>
            </a:r>
            <a:r>
              <a:rPr lang="en-US" dirty="0" err="1"/>
              <a:t>ResNet</a:t>
            </a:r>
            <a:r>
              <a:rPr lang="en-US" dirty="0"/>
              <a:t> or CNNs are good models to use due to their high-accuracy and precision in detecting defects. However, especially for </a:t>
            </a:r>
            <a:r>
              <a:rPr lang="en-US" dirty="0" err="1"/>
              <a:t>ResNet</a:t>
            </a:r>
            <a:r>
              <a:rPr lang="en-US" dirty="0"/>
              <a:t>, they will take more training time will require careful regularization to prevent overfitting.</a:t>
            </a:r>
          </a:p>
          <a:p>
            <a:r>
              <a:rPr lang="en-US" dirty="0"/>
              <a:t>TensorFlow and </a:t>
            </a:r>
            <a:r>
              <a:rPr lang="en-US" dirty="0" err="1"/>
              <a:t>PyTorch</a:t>
            </a:r>
            <a:r>
              <a:rPr lang="en-US" dirty="0"/>
              <a:t> are good frameworks for the purposes of detecting defects model.</a:t>
            </a:r>
          </a:p>
          <a:p>
            <a:r>
              <a:rPr lang="en-US" dirty="0"/>
              <a:t>Since the model needs to detect defects big and small, it needs to dedicate time to it, which is why models like </a:t>
            </a:r>
            <a:r>
              <a:rPr lang="en-US" dirty="0" err="1"/>
              <a:t>ResNet</a:t>
            </a:r>
            <a:r>
              <a:rPr lang="en-US" dirty="0"/>
              <a:t> and CNN are my preferred models. However, for the framework, popular frameworks like TensorFlow and </a:t>
            </a:r>
            <a:r>
              <a:rPr lang="en-US" dirty="0" err="1"/>
              <a:t>Pytorch</a:t>
            </a:r>
            <a:r>
              <a:rPr lang="en-US" dirty="0"/>
              <a:t> can work just fine.</a:t>
            </a:r>
          </a:p>
          <a:p>
            <a:endParaRPr lang="en-US" dirty="0"/>
          </a:p>
          <a:p>
            <a:endParaRPr lang="en-US" dirty="0"/>
          </a:p>
        </p:txBody>
      </p:sp>
    </p:spTree>
    <p:extLst>
      <p:ext uri="{BB962C8B-B14F-4D97-AF65-F5344CB8AC3E}">
        <p14:creationId xmlns:p14="http://schemas.microsoft.com/office/powerpoint/2010/main" val="371317628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98C4D0-0E6F-F338-619B-4B4064883E4F}"/>
              </a:ext>
            </a:extLst>
          </p:cNvPr>
          <p:cNvSpPr>
            <a:spLocks noGrp="1"/>
          </p:cNvSpPr>
          <p:nvPr>
            <p:ph type="title"/>
          </p:nvPr>
        </p:nvSpPr>
        <p:spPr/>
        <p:txBody>
          <a:bodyPr/>
          <a:lstStyle/>
          <a:p>
            <a:r>
              <a:rPr lang="en-US" dirty="0"/>
              <a:t>Dataset Plan</a:t>
            </a:r>
          </a:p>
        </p:txBody>
      </p:sp>
      <p:sp>
        <p:nvSpPr>
          <p:cNvPr id="3" name="Content Placeholder 2">
            <a:extLst>
              <a:ext uri="{FF2B5EF4-FFF2-40B4-BE49-F238E27FC236}">
                <a16:creationId xmlns:a16="http://schemas.microsoft.com/office/drawing/2014/main" id="{C005FEFA-AB82-0152-5688-0808AB7A1328}"/>
              </a:ext>
            </a:extLst>
          </p:cNvPr>
          <p:cNvSpPr>
            <a:spLocks noGrp="1"/>
          </p:cNvSpPr>
          <p:nvPr>
            <p:ph idx="1"/>
          </p:nvPr>
        </p:nvSpPr>
        <p:spPr/>
        <p:txBody>
          <a:bodyPr>
            <a:normAutofit fontScale="92500" lnSpcReduction="20000"/>
          </a:bodyPr>
          <a:lstStyle/>
          <a:p>
            <a:r>
              <a:rPr lang="en-US" dirty="0"/>
              <a:t>There will be two groups of data. One for fabric defects, and one for frame defects. The source of the data can be a combination of fabric/frame defects and perfections from a public dataset, like Kaggle, and the images of the defects and perfections from the sofa company’s previous sofas.</a:t>
            </a:r>
          </a:p>
          <a:p>
            <a:r>
              <a:rPr lang="en-US" dirty="0"/>
              <a:t>The size will generally be around 1000-2000, not too small to limit the model’s knowledge on defect detection, but not to big as to take away processing power from the already power-intensive model.</a:t>
            </a:r>
          </a:p>
          <a:p>
            <a:r>
              <a:rPr lang="en-US" dirty="0"/>
              <a:t>This data will be used to detect and differentiate perfect frames/fabric, and defective frames/fabric.</a:t>
            </a:r>
          </a:p>
          <a:p>
            <a:r>
              <a:rPr lang="en-US" dirty="0"/>
              <a:t>Due to the nature of this training, the data needs to be labelled so that we can quantify how many the model got right and wrong and improve on that. The data also needs to be cleaned to make it easier to track.</a:t>
            </a:r>
          </a:p>
        </p:txBody>
      </p:sp>
    </p:spTree>
    <p:extLst>
      <p:ext uri="{BB962C8B-B14F-4D97-AF65-F5344CB8AC3E}">
        <p14:creationId xmlns:p14="http://schemas.microsoft.com/office/powerpoint/2010/main" val="37856533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392B98-EBC7-074D-6C08-8DB6737BC1B7}"/>
              </a:ext>
            </a:extLst>
          </p:cNvPr>
          <p:cNvSpPr>
            <a:spLocks noGrp="1"/>
          </p:cNvSpPr>
          <p:nvPr>
            <p:ph type="title"/>
          </p:nvPr>
        </p:nvSpPr>
        <p:spPr/>
        <p:txBody>
          <a:bodyPr/>
          <a:lstStyle/>
          <a:p>
            <a:r>
              <a:rPr lang="en-US" dirty="0"/>
              <a:t>System Diagram</a:t>
            </a:r>
          </a:p>
        </p:txBody>
      </p:sp>
      <p:sp>
        <p:nvSpPr>
          <p:cNvPr id="3" name="Content Placeholder 2">
            <a:extLst>
              <a:ext uri="{FF2B5EF4-FFF2-40B4-BE49-F238E27FC236}">
                <a16:creationId xmlns:a16="http://schemas.microsoft.com/office/drawing/2014/main" id="{EB999EF9-93AD-992A-F36F-6B8F60479E88}"/>
              </a:ext>
            </a:extLst>
          </p:cNvPr>
          <p:cNvSpPr>
            <a:spLocks noGrp="1"/>
          </p:cNvSpPr>
          <p:nvPr>
            <p:ph idx="1"/>
          </p:nvPr>
        </p:nvSpPr>
        <p:spPr/>
        <p:txBody>
          <a:bodyPr/>
          <a:lstStyle/>
          <a:p>
            <a:r>
              <a:rPr lang="en-US" dirty="0"/>
              <a:t>[Acquisition of the image of the sofa frame from the camera] → [Model inference] → [Decision between keeping the frame, or discarding it] → [Under the assumption that the sofa frame is accepted, acquisition of the image of the sofa fabric from the camera] → [Model inference] → [Decision between keeping the fabric or discarding it] → [Under the assumption that the sofa frame is accepted, continue with the sofa production to the finished product]</a:t>
            </a:r>
          </a:p>
        </p:txBody>
      </p:sp>
    </p:spTree>
    <p:extLst>
      <p:ext uri="{BB962C8B-B14F-4D97-AF65-F5344CB8AC3E}">
        <p14:creationId xmlns:p14="http://schemas.microsoft.com/office/powerpoint/2010/main" val="166300445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C7D0C5-48C0-CB4C-8622-65DF07B676A8}"/>
              </a:ext>
            </a:extLst>
          </p:cNvPr>
          <p:cNvSpPr>
            <a:spLocks noGrp="1"/>
          </p:cNvSpPr>
          <p:nvPr>
            <p:ph type="title"/>
          </p:nvPr>
        </p:nvSpPr>
        <p:spPr/>
        <p:txBody>
          <a:bodyPr/>
          <a:lstStyle/>
          <a:p>
            <a:r>
              <a:rPr lang="en-US" dirty="0"/>
              <a:t>Success Metrics</a:t>
            </a:r>
          </a:p>
        </p:txBody>
      </p:sp>
      <p:graphicFrame>
        <p:nvGraphicFramePr>
          <p:cNvPr id="4" name="Content Placeholder 3">
            <a:extLst>
              <a:ext uri="{FF2B5EF4-FFF2-40B4-BE49-F238E27FC236}">
                <a16:creationId xmlns:a16="http://schemas.microsoft.com/office/drawing/2014/main" id="{FF896CCB-72CE-7039-E231-57D282F2C8A4}"/>
              </a:ext>
            </a:extLst>
          </p:cNvPr>
          <p:cNvGraphicFramePr>
            <a:graphicFrameLocks noGrp="1"/>
          </p:cNvGraphicFramePr>
          <p:nvPr>
            <p:ph idx="1"/>
            <p:extLst>
              <p:ext uri="{D42A27DB-BD31-4B8C-83A1-F6EECF244321}">
                <p14:modId xmlns:p14="http://schemas.microsoft.com/office/powerpoint/2010/main" val="900760182"/>
              </p:ext>
            </p:extLst>
          </p:nvPr>
        </p:nvGraphicFramePr>
        <p:xfrm>
          <a:off x="838200" y="1825625"/>
          <a:ext cx="10515597" cy="1112520"/>
        </p:xfrm>
        <a:graphic>
          <a:graphicData uri="http://schemas.openxmlformats.org/drawingml/2006/table">
            <a:tbl>
              <a:tblPr firstRow="1" bandRow="1">
                <a:tableStyleId>{5C22544A-7EE6-4342-B048-85BDC9FD1C3A}</a:tableStyleId>
              </a:tblPr>
              <a:tblGrid>
                <a:gridCol w="3505199">
                  <a:extLst>
                    <a:ext uri="{9D8B030D-6E8A-4147-A177-3AD203B41FA5}">
                      <a16:colId xmlns:a16="http://schemas.microsoft.com/office/drawing/2014/main" val="273395463"/>
                    </a:ext>
                  </a:extLst>
                </a:gridCol>
                <a:gridCol w="3505199">
                  <a:extLst>
                    <a:ext uri="{9D8B030D-6E8A-4147-A177-3AD203B41FA5}">
                      <a16:colId xmlns:a16="http://schemas.microsoft.com/office/drawing/2014/main" val="1486325768"/>
                    </a:ext>
                  </a:extLst>
                </a:gridCol>
                <a:gridCol w="3505199">
                  <a:extLst>
                    <a:ext uri="{9D8B030D-6E8A-4147-A177-3AD203B41FA5}">
                      <a16:colId xmlns:a16="http://schemas.microsoft.com/office/drawing/2014/main" val="918272497"/>
                    </a:ext>
                  </a:extLst>
                </a:gridCol>
              </a:tblGrid>
              <a:tr h="370840">
                <a:tc>
                  <a:txBody>
                    <a:bodyPr/>
                    <a:lstStyle/>
                    <a:p>
                      <a:r>
                        <a:rPr lang="en-US" dirty="0"/>
                        <a:t>Metric Type</a:t>
                      </a:r>
                    </a:p>
                  </a:txBody>
                  <a:tcPr/>
                </a:tc>
                <a:tc>
                  <a:txBody>
                    <a:bodyPr/>
                    <a:lstStyle/>
                    <a:p>
                      <a:r>
                        <a:rPr lang="en-US" dirty="0"/>
                        <a:t>Example</a:t>
                      </a:r>
                    </a:p>
                  </a:txBody>
                  <a:tcPr/>
                </a:tc>
                <a:tc>
                  <a:txBody>
                    <a:bodyPr/>
                    <a:lstStyle/>
                    <a:p>
                      <a:r>
                        <a:rPr lang="en-US" dirty="0"/>
                        <a:t>Target</a:t>
                      </a:r>
                    </a:p>
                  </a:txBody>
                  <a:tcPr/>
                </a:tc>
                <a:extLst>
                  <a:ext uri="{0D108BD9-81ED-4DB2-BD59-A6C34878D82A}">
                    <a16:rowId xmlns:a16="http://schemas.microsoft.com/office/drawing/2014/main" val="3760165144"/>
                  </a:ext>
                </a:extLst>
              </a:tr>
              <a:tr h="370840">
                <a:tc>
                  <a:txBody>
                    <a:bodyPr/>
                    <a:lstStyle/>
                    <a:p>
                      <a:r>
                        <a:rPr lang="en-US" dirty="0"/>
                        <a:t>Primary Metric</a:t>
                      </a:r>
                    </a:p>
                  </a:txBody>
                  <a:tcPr/>
                </a:tc>
                <a:tc>
                  <a:txBody>
                    <a:bodyPr/>
                    <a:lstStyle/>
                    <a:p>
                      <a:r>
                        <a:rPr lang="en-US" dirty="0"/>
                        <a:t>Accuracy</a:t>
                      </a:r>
                    </a:p>
                  </a:txBody>
                  <a:tcPr/>
                </a:tc>
                <a:tc>
                  <a:txBody>
                    <a:bodyPr/>
                    <a:lstStyle/>
                    <a:p>
                      <a:r>
                        <a:rPr lang="en-US" dirty="0"/>
                        <a:t>≥ 90%</a:t>
                      </a:r>
                    </a:p>
                  </a:txBody>
                  <a:tcPr/>
                </a:tc>
                <a:extLst>
                  <a:ext uri="{0D108BD9-81ED-4DB2-BD59-A6C34878D82A}">
                    <a16:rowId xmlns:a16="http://schemas.microsoft.com/office/drawing/2014/main" val="93411231"/>
                  </a:ext>
                </a:extLst>
              </a:tr>
              <a:tr h="370840">
                <a:tc>
                  <a:txBody>
                    <a:bodyPr/>
                    <a:lstStyle/>
                    <a:p>
                      <a:r>
                        <a:rPr lang="en-US" dirty="0"/>
                        <a:t>Secondary Metric</a:t>
                      </a:r>
                    </a:p>
                  </a:txBody>
                  <a:tcPr/>
                </a:tc>
                <a:tc>
                  <a:txBody>
                    <a:bodyPr/>
                    <a:lstStyle/>
                    <a:p>
                      <a:r>
                        <a:rPr lang="en-US" dirty="0"/>
                        <a:t>Speed</a:t>
                      </a:r>
                    </a:p>
                  </a:txBody>
                  <a:tcPr/>
                </a:tc>
                <a:tc>
                  <a:txBody>
                    <a:bodyPr/>
                    <a:lstStyle/>
                    <a:p>
                      <a:r>
                        <a:rPr lang="en-US" dirty="0"/>
                        <a:t>&lt; 1 s per image</a:t>
                      </a:r>
                    </a:p>
                  </a:txBody>
                  <a:tcPr/>
                </a:tc>
                <a:extLst>
                  <a:ext uri="{0D108BD9-81ED-4DB2-BD59-A6C34878D82A}">
                    <a16:rowId xmlns:a16="http://schemas.microsoft.com/office/drawing/2014/main" val="407501624"/>
                  </a:ext>
                </a:extLst>
              </a:tr>
            </a:tbl>
          </a:graphicData>
        </a:graphic>
      </p:graphicFrame>
    </p:spTree>
    <p:extLst>
      <p:ext uri="{BB962C8B-B14F-4D97-AF65-F5344CB8AC3E}">
        <p14:creationId xmlns:p14="http://schemas.microsoft.com/office/powerpoint/2010/main" val="5276648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529E74-EB62-778D-E971-239A7E4BE494}"/>
              </a:ext>
            </a:extLst>
          </p:cNvPr>
          <p:cNvSpPr>
            <a:spLocks noGrp="1"/>
          </p:cNvSpPr>
          <p:nvPr>
            <p:ph type="title"/>
          </p:nvPr>
        </p:nvSpPr>
        <p:spPr/>
        <p:txBody>
          <a:bodyPr/>
          <a:lstStyle/>
          <a:p>
            <a:r>
              <a:rPr lang="en-US" dirty="0"/>
              <a:t>Week-by-Week Plan</a:t>
            </a:r>
          </a:p>
        </p:txBody>
      </p:sp>
      <p:graphicFrame>
        <p:nvGraphicFramePr>
          <p:cNvPr id="8" name="Content Placeholder 7">
            <a:extLst>
              <a:ext uri="{FF2B5EF4-FFF2-40B4-BE49-F238E27FC236}">
                <a16:creationId xmlns:a16="http://schemas.microsoft.com/office/drawing/2014/main" id="{C200019E-2A32-5303-1FF7-AB8E6433B158}"/>
              </a:ext>
            </a:extLst>
          </p:cNvPr>
          <p:cNvGraphicFramePr>
            <a:graphicFrameLocks noGrp="1"/>
          </p:cNvGraphicFramePr>
          <p:nvPr>
            <p:ph idx="1"/>
            <p:extLst>
              <p:ext uri="{D42A27DB-BD31-4B8C-83A1-F6EECF244321}">
                <p14:modId xmlns:p14="http://schemas.microsoft.com/office/powerpoint/2010/main" val="2297155899"/>
              </p:ext>
            </p:extLst>
          </p:nvPr>
        </p:nvGraphicFramePr>
        <p:xfrm>
          <a:off x="838200" y="1825625"/>
          <a:ext cx="10515597" cy="2595880"/>
        </p:xfrm>
        <a:graphic>
          <a:graphicData uri="http://schemas.openxmlformats.org/drawingml/2006/table">
            <a:tbl>
              <a:tblPr firstRow="1" bandRow="1">
                <a:tableStyleId>{5C22544A-7EE6-4342-B048-85BDC9FD1C3A}</a:tableStyleId>
              </a:tblPr>
              <a:tblGrid>
                <a:gridCol w="3505199">
                  <a:extLst>
                    <a:ext uri="{9D8B030D-6E8A-4147-A177-3AD203B41FA5}">
                      <a16:colId xmlns:a16="http://schemas.microsoft.com/office/drawing/2014/main" val="103265131"/>
                    </a:ext>
                  </a:extLst>
                </a:gridCol>
                <a:gridCol w="3505199">
                  <a:extLst>
                    <a:ext uri="{9D8B030D-6E8A-4147-A177-3AD203B41FA5}">
                      <a16:colId xmlns:a16="http://schemas.microsoft.com/office/drawing/2014/main" val="2080384414"/>
                    </a:ext>
                  </a:extLst>
                </a:gridCol>
                <a:gridCol w="3505199">
                  <a:extLst>
                    <a:ext uri="{9D8B030D-6E8A-4147-A177-3AD203B41FA5}">
                      <a16:colId xmlns:a16="http://schemas.microsoft.com/office/drawing/2014/main" val="1891201438"/>
                    </a:ext>
                  </a:extLst>
                </a:gridCol>
              </a:tblGrid>
              <a:tr h="370840">
                <a:tc>
                  <a:txBody>
                    <a:bodyPr/>
                    <a:lstStyle/>
                    <a:p>
                      <a:r>
                        <a:rPr lang="en-US" dirty="0"/>
                        <a:t>Week</a:t>
                      </a:r>
                    </a:p>
                  </a:txBody>
                  <a:tcPr/>
                </a:tc>
                <a:tc>
                  <a:txBody>
                    <a:bodyPr/>
                    <a:lstStyle/>
                    <a:p>
                      <a:r>
                        <a:rPr lang="en-US" dirty="0"/>
                        <a:t>Task</a:t>
                      </a:r>
                    </a:p>
                  </a:txBody>
                  <a:tcPr/>
                </a:tc>
                <a:tc>
                  <a:txBody>
                    <a:bodyPr/>
                    <a:lstStyle/>
                    <a:p>
                      <a:r>
                        <a:rPr lang="en-US" dirty="0"/>
                        <a:t>Milestone</a:t>
                      </a:r>
                    </a:p>
                  </a:txBody>
                  <a:tcPr/>
                </a:tc>
                <a:extLst>
                  <a:ext uri="{0D108BD9-81ED-4DB2-BD59-A6C34878D82A}">
                    <a16:rowId xmlns:a16="http://schemas.microsoft.com/office/drawing/2014/main" val="858555575"/>
                  </a:ext>
                </a:extLst>
              </a:tr>
              <a:tr h="370840">
                <a:tc>
                  <a:txBody>
                    <a:bodyPr/>
                    <a:lstStyle/>
                    <a:p>
                      <a:r>
                        <a:rPr lang="en-US" dirty="0"/>
                        <a:t>10 (Oct 30)</a:t>
                      </a:r>
                    </a:p>
                  </a:txBody>
                  <a:tcPr/>
                </a:tc>
                <a:tc>
                  <a:txBody>
                    <a:bodyPr/>
                    <a:lstStyle/>
                    <a:p>
                      <a:r>
                        <a:rPr lang="en-US" dirty="0"/>
                        <a:t>Get dataset, set up environment</a:t>
                      </a:r>
                    </a:p>
                  </a:txBody>
                  <a:tcPr/>
                </a:tc>
                <a:tc>
                  <a:txBody>
                    <a:bodyPr/>
                    <a:lstStyle/>
                    <a:p>
                      <a:r>
                        <a:rPr lang="en-US" dirty="0"/>
                        <a:t>Dataset ready </a:t>
                      </a:r>
                    </a:p>
                  </a:txBody>
                  <a:tcPr/>
                </a:tc>
                <a:extLst>
                  <a:ext uri="{0D108BD9-81ED-4DB2-BD59-A6C34878D82A}">
                    <a16:rowId xmlns:a16="http://schemas.microsoft.com/office/drawing/2014/main" val="1018110196"/>
                  </a:ext>
                </a:extLst>
              </a:tr>
              <a:tr h="370840">
                <a:tc>
                  <a:txBody>
                    <a:bodyPr/>
                    <a:lstStyle/>
                    <a:p>
                      <a:r>
                        <a:rPr lang="en-US" dirty="0"/>
                        <a:t>11 (Nov 6)</a:t>
                      </a:r>
                    </a:p>
                  </a:txBody>
                  <a:tcPr/>
                </a:tc>
                <a:tc>
                  <a:txBody>
                    <a:bodyPr/>
                    <a:lstStyle/>
                    <a:p>
                      <a:r>
                        <a:rPr lang="en-US" dirty="0"/>
                        <a:t>Train or fine-tune model</a:t>
                      </a:r>
                    </a:p>
                  </a:txBody>
                  <a:tcPr/>
                </a:tc>
                <a:tc>
                  <a:txBody>
                    <a:bodyPr/>
                    <a:lstStyle/>
                    <a:p>
                      <a:r>
                        <a:rPr lang="en-US" dirty="0"/>
                        <a:t>Model working</a:t>
                      </a:r>
                    </a:p>
                  </a:txBody>
                  <a:tcPr/>
                </a:tc>
                <a:extLst>
                  <a:ext uri="{0D108BD9-81ED-4DB2-BD59-A6C34878D82A}">
                    <a16:rowId xmlns:a16="http://schemas.microsoft.com/office/drawing/2014/main" val="4057993638"/>
                  </a:ext>
                </a:extLst>
              </a:tr>
              <a:tr h="370840">
                <a:tc>
                  <a:txBody>
                    <a:bodyPr/>
                    <a:lstStyle/>
                    <a:p>
                      <a:r>
                        <a:rPr lang="en-US" dirty="0"/>
                        <a:t>12 (Nov 13)</a:t>
                      </a:r>
                    </a:p>
                  </a:txBody>
                  <a:tcPr/>
                </a:tc>
                <a:tc>
                  <a:txBody>
                    <a:bodyPr/>
                    <a:lstStyle/>
                    <a:p>
                      <a:r>
                        <a:rPr lang="en-US" dirty="0"/>
                        <a:t>Test and improve</a:t>
                      </a:r>
                    </a:p>
                  </a:txBody>
                  <a:tcPr/>
                </a:tc>
                <a:tc>
                  <a:txBody>
                    <a:bodyPr/>
                    <a:lstStyle/>
                    <a:p>
                      <a:r>
                        <a:rPr lang="en-US" dirty="0"/>
                        <a:t>Good accuracy</a:t>
                      </a:r>
                    </a:p>
                  </a:txBody>
                  <a:tcPr/>
                </a:tc>
                <a:extLst>
                  <a:ext uri="{0D108BD9-81ED-4DB2-BD59-A6C34878D82A}">
                    <a16:rowId xmlns:a16="http://schemas.microsoft.com/office/drawing/2014/main" val="3264199199"/>
                  </a:ext>
                </a:extLst>
              </a:tr>
              <a:tr h="370840">
                <a:tc>
                  <a:txBody>
                    <a:bodyPr/>
                    <a:lstStyle/>
                    <a:p>
                      <a:r>
                        <a:rPr lang="en-US" dirty="0"/>
                        <a:t>13 (Nov 20)</a:t>
                      </a:r>
                    </a:p>
                  </a:txBody>
                  <a:tcPr/>
                </a:tc>
                <a:tc>
                  <a:txBody>
                    <a:bodyPr/>
                    <a:lstStyle/>
                    <a:p>
                      <a:r>
                        <a:rPr lang="en-US" dirty="0"/>
                        <a:t>Create demo / video</a:t>
                      </a:r>
                    </a:p>
                  </a:txBody>
                  <a:tcPr/>
                </a:tc>
                <a:tc>
                  <a:txBody>
                    <a:bodyPr/>
                    <a:lstStyle/>
                    <a:p>
                      <a:r>
                        <a:rPr lang="en-US" dirty="0"/>
                        <a:t>Demo ready</a:t>
                      </a:r>
                    </a:p>
                  </a:txBody>
                  <a:tcPr/>
                </a:tc>
                <a:extLst>
                  <a:ext uri="{0D108BD9-81ED-4DB2-BD59-A6C34878D82A}">
                    <a16:rowId xmlns:a16="http://schemas.microsoft.com/office/drawing/2014/main" val="2880666247"/>
                  </a:ext>
                </a:extLst>
              </a:tr>
              <a:tr h="370840">
                <a:tc>
                  <a:txBody>
                    <a:bodyPr/>
                    <a:lstStyle/>
                    <a:p>
                      <a:r>
                        <a:rPr lang="en-US" dirty="0"/>
                        <a:t>14 (Nov 27)</a:t>
                      </a:r>
                    </a:p>
                  </a:txBody>
                  <a:tcPr/>
                </a:tc>
                <a:tc>
                  <a:txBody>
                    <a:bodyPr/>
                    <a:lstStyle/>
                    <a:p>
                      <a:r>
                        <a:rPr lang="en-US" dirty="0"/>
                        <a:t>Final testing / documentation</a:t>
                      </a:r>
                    </a:p>
                  </a:txBody>
                  <a:tcPr/>
                </a:tc>
                <a:tc>
                  <a:txBody>
                    <a:bodyPr/>
                    <a:lstStyle/>
                    <a:p>
                      <a:r>
                        <a:rPr lang="en-US" dirty="0"/>
                        <a:t>Everything done</a:t>
                      </a:r>
                    </a:p>
                  </a:txBody>
                  <a:tcPr/>
                </a:tc>
                <a:extLst>
                  <a:ext uri="{0D108BD9-81ED-4DB2-BD59-A6C34878D82A}">
                    <a16:rowId xmlns:a16="http://schemas.microsoft.com/office/drawing/2014/main" val="2818803498"/>
                  </a:ext>
                </a:extLst>
              </a:tr>
              <a:tr h="370840">
                <a:tc>
                  <a:txBody>
                    <a:bodyPr/>
                    <a:lstStyle/>
                    <a:p>
                      <a:r>
                        <a:rPr lang="en-US" dirty="0"/>
                        <a:t>15 (Dec 4)</a:t>
                      </a:r>
                    </a:p>
                  </a:txBody>
                  <a:tcPr/>
                </a:tc>
                <a:tc>
                  <a:txBody>
                    <a:bodyPr/>
                    <a:lstStyle/>
                    <a:p>
                      <a:r>
                        <a:rPr lang="en-US" dirty="0"/>
                        <a:t>Present project</a:t>
                      </a:r>
                    </a:p>
                  </a:txBody>
                  <a:tcPr/>
                </a:tc>
                <a:tc>
                  <a:txBody>
                    <a:bodyPr/>
                    <a:lstStyle/>
                    <a:p>
                      <a:r>
                        <a:rPr lang="en-US" dirty="0"/>
                        <a:t>Presentation day</a:t>
                      </a:r>
                    </a:p>
                  </a:txBody>
                  <a:tcPr/>
                </a:tc>
                <a:extLst>
                  <a:ext uri="{0D108BD9-81ED-4DB2-BD59-A6C34878D82A}">
                    <a16:rowId xmlns:a16="http://schemas.microsoft.com/office/drawing/2014/main" val="3381392303"/>
                  </a:ext>
                </a:extLst>
              </a:tr>
            </a:tbl>
          </a:graphicData>
        </a:graphic>
      </p:graphicFrame>
    </p:spTree>
    <p:extLst>
      <p:ext uri="{BB962C8B-B14F-4D97-AF65-F5344CB8AC3E}">
        <p14:creationId xmlns:p14="http://schemas.microsoft.com/office/powerpoint/2010/main" val="318561686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883881-520C-BF22-682D-0DB4EB7087A7}"/>
              </a:ext>
            </a:extLst>
          </p:cNvPr>
          <p:cNvSpPr>
            <a:spLocks noGrp="1"/>
          </p:cNvSpPr>
          <p:nvPr>
            <p:ph type="title"/>
          </p:nvPr>
        </p:nvSpPr>
        <p:spPr/>
        <p:txBody>
          <a:bodyPr/>
          <a:lstStyle/>
          <a:p>
            <a:r>
              <a:rPr lang="en-US" dirty="0"/>
              <a:t>Challenges &amp; Backup Plans</a:t>
            </a:r>
          </a:p>
        </p:txBody>
      </p:sp>
      <p:sp>
        <p:nvSpPr>
          <p:cNvPr id="3" name="Content Placeholder 2">
            <a:extLst>
              <a:ext uri="{FF2B5EF4-FFF2-40B4-BE49-F238E27FC236}">
                <a16:creationId xmlns:a16="http://schemas.microsoft.com/office/drawing/2014/main" id="{47179F82-276E-57B4-B7C0-D8A47F72F13A}"/>
              </a:ext>
            </a:extLst>
          </p:cNvPr>
          <p:cNvSpPr>
            <a:spLocks noGrp="1"/>
          </p:cNvSpPr>
          <p:nvPr>
            <p:ph idx="1"/>
          </p:nvPr>
        </p:nvSpPr>
        <p:spPr/>
        <p:txBody>
          <a:bodyPr/>
          <a:lstStyle/>
          <a:p>
            <a:r>
              <a:rPr lang="en-US" dirty="0"/>
              <a:t>Not enough data → Use </a:t>
            </a:r>
            <a:r>
              <a:rPr lang="en-US" dirty="0" err="1"/>
              <a:t>Roboflow</a:t>
            </a:r>
            <a:r>
              <a:rPr lang="en-US" dirty="0"/>
              <a:t> dataset.</a:t>
            </a:r>
          </a:p>
          <a:p>
            <a:r>
              <a:rPr lang="en-US" dirty="0"/>
              <a:t>Low accuracy → Add augmentation or bigger model</a:t>
            </a:r>
          </a:p>
          <a:p>
            <a:r>
              <a:rPr lang="en-US" dirty="0"/>
              <a:t>Low speed → Use faster model like YOLOv8</a:t>
            </a:r>
          </a:p>
        </p:txBody>
      </p:sp>
    </p:spTree>
    <p:extLst>
      <p:ext uri="{BB962C8B-B14F-4D97-AF65-F5344CB8AC3E}">
        <p14:creationId xmlns:p14="http://schemas.microsoft.com/office/powerpoint/2010/main" val="260647030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9FFFDB-0BCE-7E30-A069-D3A68A6A39CD}"/>
              </a:ext>
            </a:extLst>
          </p:cNvPr>
          <p:cNvSpPr>
            <a:spLocks noGrp="1"/>
          </p:cNvSpPr>
          <p:nvPr>
            <p:ph type="title"/>
          </p:nvPr>
        </p:nvSpPr>
        <p:spPr/>
        <p:txBody>
          <a:bodyPr/>
          <a:lstStyle/>
          <a:p>
            <a:r>
              <a:rPr lang="en-US" dirty="0"/>
              <a:t>Resources Needed</a:t>
            </a:r>
          </a:p>
        </p:txBody>
      </p:sp>
      <p:graphicFrame>
        <p:nvGraphicFramePr>
          <p:cNvPr id="7" name="Content Placeholder 6">
            <a:extLst>
              <a:ext uri="{FF2B5EF4-FFF2-40B4-BE49-F238E27FC236}">
                <a16:creationId xmlns:a16="http://schemas.microsoft.com/office/drawing/2014/main" id="{700B1953-CB60-64C0-18AB-35632C4380D7}"/>
              </a:ext>
            </a:extLst>
          </p:cNvPr>
          <p:cNvGraphicFramePr>
            <a:graphicFrameLocks noGrp="1"/>
          </p:cNvGraphicFramePr>
          <p:nvPr>
            <p:ph idx="1"/>
            <p:extLst>
              <p:ext uri="{D42A27DB-BD31-4B8C-83A1-F6EECF244321}">
                <p14:modId xmlns:p14="http://schemas.microsoft.com/office/powerpoint/2010/main" val="2034414622"/>
              </p:ext>
            </p:extLst>
          </p:nvPr>
        </p:nvGraphicFramePr>
        <p:xfrm>
          <a:off x="838200" y="1825625"/>
          <a:ext cx="10515600" cy="1854200"/>
        </p:xfrm>
        <a:graphic>
          <a:graphicData uri="http://schemas.openxmlformats.org/drawingml/2006/table">
            <a:tbl>
              <a:tblPr firstRow="1" bandRow="1">
                <a:tableStyleId>{5C22544A-7EE6-4342-B048-85BDC9FD1C3A}</a:tableStyleId>
              </a:tblPr>
              <a:tblGrid>
                <a:gridCol w="5257800">
                  <a:extLst>
                    <a:ext uri="{9D8B030D-6E8A-4147-A177-3AD203B41FA5}">
                      <a16:colId xmlns:a16="http://schemas.microsoft.com/office/drawing/2014/main" val="273630955"/>
                    </a:ext>
                  </a:extLst>
                </a:gridCol>
                <a:gridCol w="5257800">
                  <a:extLst>
                    <a:ext uri="{9D8B030D-6E8A-4147-A177-3AD203B41FA5}">
                      <a16:colId xmlns:a16="http://schemas.microsoft.com/office/drawing/2014/main" val="436805260"/>
                    </a:ext>
                  </a:extLst>
                </a:gridCol>
              </a:tblGrid>
              <a:tr h="370840">
                <a:tc>
                  <a:txBody>
                    <a:bodyPr/>
                    <a:lstStyle/>
                    <a:p>
                      <a:r>
                        <a:rPr lang="en-US" dirty="0"/>
                        <a:t>Resource</a:t>
                      </a:r>
                    </a:p>
                  </a:txBody>
                  <a:tcPr/>
                </a:tc>
                <a:tc>
                  <a:txBody>
                    <a:bodyPr/>
                    <a:lstStyle/>
                    <a:p>
                      <a:r>
                        <a:rPr lang="en-US" dirty="0"/>
                        <a:t>Options / Notes</a:t>
                      </a:r>
                    </a:p>
                  </a:txBody>
                  <a:tcPr/>
                </a:tc>
                <a:extLst>
                  <a:ext uri="{0D108BD9-81ED-4DB2-BD59-A6C34878D82A}">
                    <a16:rowId xmlns:a16="http://schemas.microsoft.com/office/drawing/2014/main" val="3537711498"/>
                  </a:ext>
                </a:extLst>
              </a:tr>
              <a:tr h="370840">
                <a:tc>
                  <a:txBody>
                    <a:bodyPr/>
                    <a:lstStyle/>
                    <a:p>
                      <a:r>
                        <a:rPr lang="en-US" dirty="0"/>
                        <a:t>Compute</a:t>
                      </a:r>
                    </a:p>
                  </a:txBody>
                  <a:tcPr/>
                </a:tc>
                <a:tc>
                  <a:txBody>
                    <a:bodyPr/>
                    <a:lstStyle/>
                    <a:p>
                      <a:r>
                        <a:rPr lang="en-US" dirty="0"/>
                        <a:t>Colab, Kaggle</a:t>
                      </a:r>
                    </a:p>
                  </a:txBody>
                  <a:tcPr/>
                </a:tc>
                <a:extLst>
                  <a:ext uri="{0D108BD9-81ED-4DB2-BD59-A6C34878D82A}">
                    <a16:rowId xmlns:a16="http://schemas.microsoft.com/office/drawing/2014/main" val="1883709645"/>
                  </a:ext>
                </a:extLst>
              </a:tr>
              <a:tr h="370840">
                <a:tc>
                  <a:txBody>
                    <a:bodyPr/>
                    <a:lstStyle/>
                    <a:p>
                      <a:r>
                        <a:rPr lang="en-US" dirty="0"/>
                        <a:t>Frameworks</a:t>
                      </a:r>
                    </a:p>
                  </a:txBody>
                  <a:tcPr/>
                </a:tc>
                <a:tc>
                  <a:txBody>
                    <a:bodyPr/>
                    <a:lstStyle/>
                    <a:p>
                      <a:r>
                        <a:rPr lang="en-US" dirty="0" err="1"/>
                        <a:t>PyTorch</a:t>
                      </a:r>
                      <a:r>
                        <a:rPr lang="en-US" dirty="0"/>
                        <a:t>, TensorFlow</a:t>
                      </a:r>
                    </a:p>
                  </a:txBody>
                  <a:tcPr/>
                </a:tc>
                <a:extLst>
                  <a:ext uri="{0D108BD9-81ED-4DB2-BD59-A6C34878D82A}">
                    <a16:rowId xmlns:a16="http://schemas.microsoft.com/office/drawing/2014/main" val="998701665"/>
                  </a:ext>
                </a:extLst>
              </a:tr>
              <a:tr h="370840">
                <a:tc>
                  <a:txBody>
                    <a:bodyPr/>
                    <a:lstStyle/>
                    <a:p>
                      <a:r>
                        <a:rPr lang="en-US" dirty="0"/>
                        <a:t>Models</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err="1"/>
                        <a:t>ResNet</a:t>
                      </a:r>
                      <a:r>
                        <a:rPr lang="en-US" dirty="0"/>
                        <a:t>, CNN, YOLOv8</a:t>
                      </a:r>
                    </a:p>
                  </a:txBody>
                  <a:tcPr/>
                </a:tc>
                <a:extLst>
                  <a:ext uri="{0D108BD9-81ED-4DB2-BD59-A6C34878D82A}">
                    <a16:rowId xmlns:a16="http://schemas.microsoft.com/office/drawing/2014/main" val="3643942518"/>
                  </a:ext>
                </a:extLst>
              </a:tr>
              <a:tr h="370840">
                <a:tc>
                  <a:txBody>
                    <a:bodyPr/>
                    <a:lstStyle/>
                    <a:p>
                      <a:r>
                        <a:rPr lang="en-US" dirty="0"/>
                        <a:t>Estimated Cost</a:t>
                      </a:r>
                    </a:p>
                  </a:txBody>
                  <a:tcPr/>
                </a:tc>
                <a:tc>
                  <a:txBody>
                    <a:bodyPr/>
                    <a:lstStyle/>
                    <a:p>
                      <a:r>
                        <a:rPr lang="en-US" dirty="0"/>
                        <a:t>$0</a:t>
                      </a:r>
                    </a:p>
                  </a:txBody>
                  <a:tcPr/>
                </a:tc>
                <a:extLst>
                  <a:ext uri="{0D108BD9-81ED-4DB2-BD59-A6C34878D82A}">
                    <a16:rowId xmlns:a16="http://schemas.microsoft.com/office/drawing/2014/main" val="1928832236"/>
                  </a:ext>
                </a:extLst>
              </a:tr>
            </a:tbl>
          </a:graphicData>
        </a:graphic>
      </p:graphicFrame>
    </p:spTree>
    <p:extLst>
      <p:ext uri="{BB962C8B-B14F-4D97-AF65-F5344CB8AC3E}">
        <p14:creationId xmlns:p14="http://schemas.microsoft.com/office/powerpoint/2010/main" val="403287646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1406</TotalTime>
  <Words>712</Words>
  <Application>Microsoft Macintosh PowerPoint</Application>
  <PresentationFormat>Widescreen</PresentationFormat>
  <Paragraphs>68</Paragraphs>
  <Slides>10</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Aptos</vt:lpstr>
      <vt:lpstr>Aptos Display</vt:lpstr>
      <vt:lpstr>Arial</vt:lpstr>
      <vt:lpstr>Office Theme</vt:lpstr>
      <vt:lpstr>Proposal to Integrate Computer Vision in Sofa Manufacturing</vt:lpstr>
      <vt:lpstr>The Problem</vt:lpstr>
      <vt:lpstr>Our Solution</vt:lpstr>
      <vt:lpstr>Technical Approach</vt:lpstr>
      <vt:lpstr>Dataset Plan</vt:lpstr>
      <vt:lpstr>System Diagram</vt:lpstr>
      <vt:lpstr>Success Metrics</vt:lpstr>
      <vt:lpstr>Week-by-Week Plan</vt:lpstr>
      <vt:lpstr>Challenges &amp; Backup Plans</vt:lpstr>
      <vt:lpstr>Resources Needed</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Fife Ogedengbe</dc:creator>
  <cp:lastModifiedBy>Fife Ogedengbe</cp:lastModifiedBy>
  <cp:revision>13</cp:revision>
  <dcterms:created xsi:type="dcterms:W3CDTF">2025-10-30T04:18:04Z</dcterms:created>
  <dcterms:modified xsi:type="dcterms:W3CDTF">2025-11-07T01:19:22Z</dcterms:modified>
</cp:coreProperties>
</file>